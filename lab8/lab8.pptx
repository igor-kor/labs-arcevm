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  <p:sldMasterId id="2147483738" r:id="rId2"/>
  </p:sldMasterIdLst>
  <p:sldIdLst>
    <p:sldId id="256" r:id="rId3"/>
    <p:sldId id="265" r:id="rId4"/>
    <p:sldId id="257" r:id="rId5"/>
    <p:sldId id="260" r:id="rId6"/>
    <p:sldId id="258" r:id="rId7"/>
    <p:sldId id="261" r:id="rId8"/>
    <p:sldId id="259" r:id="rId9"/>
    <p:sldId id="262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8256E972-A41B-443E-A5A0-DE1B714A5F70}">
          <p14:sldIdLst>
            <p14:sldId id="256"/>
          </p14:sldIdLst>
        </p14:section>
        <p14:section name="Раздел оглавления" id="{65798CF1-78A3-4EEA-83B6-EFA4835C3795}">
          <p14:sldIdLst>
            <p14:sldId id="265"/>
          </p14:sldIdLst>
        </p14:section>
        <p14:section name="Ёмкостный тачскрин" id="{320708A4-B6C6-4116-AC1A-E9B4D694109A}">
          <p14:sldIdLst>
            <p14:sldId id="257"/>
            <p14:sldId id="260"/>
          </p14:sldIdLst>
        </p14:section>
        <p14:section name="Волновой тачскрин" id="{82942A71-F2D0-48DF-91CD-E18429B8F076}">
          <p14:sldIdLst>
            <p14:sldId id="258"/>
            <p14:sldId id="261"/>
          </p14:sldIdLst>
        </p14:section>
        <p14:section name="Резистивный тачскрин" id="{CE4392FA-FC47-4040-A604-2D566167491E}">
          <p14:sldIdLst>
            <p14:sldId id="259"/>
            <p14:sldId id="262"/>
            <p14:sldId id="266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25.06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4217 14536 0,'0'49'78,"0"26"-78,0 24 16,0 25-1,0 74 1,0-49-1,0 25 1,0-50 0,0-25-1,0 0 1,0-24 0,0-26-1,0-24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26.154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4316 14486 0,'25'-25'62,"49"25"-62,-24 25 16,74 74 0,0-74-16,273 124 15,49 0 1,-198-149-1,-74 49 1,-174-24 203,-25 0-204,0-25 32,1 0-31,-1 0-16,-25 0 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26.989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5829 14660 0,'25'0'0,"0"24"31,-25 1-31,49 99 31,-49 25-15,0 0 0,0-100-16,0 51 15,0-1 1,0 0-1,0-49 1,0-25 0,0 24-1,0-24 1,0 0 0,0 0-1,0-1 1,0 26 15,0-25-15,0 24-1,0 1 1,25 24 0,0-24-1,0 0 1,-25-26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28.13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7491 15478 0,'-25'0'15,"25"25"1,0 25-16,0-1 15,0 1 1,0 49 0,0 25-1,0-50 1,25 26 0,25-51-1,24 26 1,25-51-1,-24-24 1,-1 0 15,-49 0-15,99 0 0,-50 0-16,50-124 15,-24 25 1,-1-99-1,-50 49 1,-24 50 0,-25 24-1,0-74 1,-49-49 0,-51 49-1,26 50 1,-25 0-1,49 49 1,1 1 0,24 24-1,-25 25 1,-24 0 0,-26 0-1,1 99 1,0 0-1,49-49 1,50 99 0,-49-25-1,-1 0 1,-24 0 0,74-99-1,0-1 1,0 1 15,0 0 0,0 0-15,25 0 15,-1-1-15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28.92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9277 14610 0,'0'25'63,"0"24"-63,0 51 16,0-26-16,0 50 15,0 74-15,0-24 16,0 397 15,0-373-15,0-99-1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30.17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9376 14635 0,'25'0'32,"25"0"-32,-50 25 15,49-1-15,100 175 16,-75-150 15,1 125-15,-26-100-16,-24-49 15,0 50 1,49-26 0,-49 1-1,25-50 1,0 50-1,-1-50 1,50 0 0,50-125-1,-25-23 1,-99 48 0,25 26-1,-26 0 16,1 24-15,-25 124 140,0 50-156,0 0 16,0 25-16,0 75 16,0-51-1,0 1 1,0-50 15,0-75-15,25 1-1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30.74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11981 14387 0,'0'49'31,"0"51"-15,0-26-16,0 50 15,0 223 1,0 25 0,0-74-1,0-124 1,0-75-1,0-50 1,0-24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31.33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11857 14635 0,'0'-25'47,"24"25"-32,26 0 1,49 0 0,-24-25-1,-1 0 1,-49 25-16,0 0 31,24 0-15,-24 0-1,0 0 17,0 0-1,24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32.08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11981 15354 0,'0'25'16,"0"0"0,0 0-1,0-1 1,0 1 15,148 0-15,1-25-1,0 0 1,-74 0 0,-51 0-1,26 0 1,-25 0 15,0 0-15,24 0-1,-24 0 1,49 0 0,-49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33.07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11931 16495 0,'0'25'31,"25"-25"-15,49 0 15,1 0-15,24 0-1,25 0 1,-74 0 0,49 0-1,-74 0 1,24 0 0,26 0-1,-1 0 1,-49 0-1,24 0 17,-24 0 15,25 0-16,-25-25 31,-25 0-46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34.522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12254 14536 0,'0'0'0,"24"0"16,26 0 0,-25 0-1,24 0 1,-24 0-1,50 24 1,-51-24 0,1 0-1,0 0 1,25 25 0,-26-25-1,26 0 16,-25 0 48,0 0-48,-1 0-16,1 0 1,25 0 0,-50 25-1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35.652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13915 14412 0,'0'24'31,"0"1"-31,0 25 16,0-1 15,25 75-16,-25 100 1,0-26 0,0-74-16,0 75 15,0-51 1,0-48 0,0-51-1,0 1 1,0 49-1,0-49 1,0 49 0,0-74-1,0 49 1,0 0 15,0-49-15,0 0-1,0 0 17,0 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36.717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13494 14337 0,'0'50'31,"25"-50"-16,-1 25 1,26-1 0,24-24-1,75 25 1,-50-25 0,25 25-1,-74-25 1,0 0-1,-26 0 1,1 0 0,50 0-1,-1 0 1,1 0 15,-51 0-31,1 0 16,25 0-1,49 0 1,-25 0 0,-49 0-1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37.81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15478 14486 0,'0'25'125,"0"24"-109,0 75-1,0-24-15,0 197 16,0-173 0,0 149-1,0-99 1,0-75-1,0-49 1,0-1 15,0-24-15,0 0 0,0 0-1,0-1 1,-25 51-1,25-26 1,0-24 78,0 0-63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38.69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15577 15354 0,'0'0'0,"0"25"15,0 0 32,75-50-31,74-99-1,-50 49 1,74-24 0,-98 25-1,-26 24 1,1 1-1,99-75 1,-50 0 0,25 49-1,-74 26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39.972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15974 15230 0,'25'25'16,"0"0"0,-25-1-1,0 26 1,49 25-1,-24-1 1,0 0 0,0 1-1,0-1 1,24-49 0,1 49-1,-25 26 1,24-51-1,-49-24 1,25-25 218,-25 25-171,0 24-47,25-49-1,-25 25 1,25 0-1,0 25 17,-1-50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41.090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17835 14412 0,'-25'-25'16,"0"25"15,25 25-31,0-1 16,0 26-1,-50 74 17,50 0-17,-74 50 1,24 24-1,1-49 1,-26 0 0,26-50-1,24 25 1,25-74-16,0 74 16,-25-50-1,0-49 1,25 24-1,-25-49 1,25 25 0,0 0 15,0 25 0,0-26-15,0 26-1,0-25-15,0 0 32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42.099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17934 14412 0,'0'24'78,"0"1"-78,0 0 16,0 49-1,25 75 1,49-25 0,-24 99-1,24-24 1,-49-100-16,0 124 16,49-49-1,-24 49 1,24-49-1,-49-75 1,0-49 15,-1-26-15,-24 1 15,0 0-15,0 0 15,0-50 32,-24-25-48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42.72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17587 15577 0,'24'0'78,"51"0"-78,24 0 16,99 0 0,-74 0-1,-24 0 1,-76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1-15T16:15:43.501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21456 12378 0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24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58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013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32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93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66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24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69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92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86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079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563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282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829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614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551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248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753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4408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555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632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8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29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ED6A8-AD4A-4F33-BEC4-6851B93D0AAF}" type="datetimeFigureOut">
              <a:rPr lang="ru-RU" smtClean="0"/>
              <a:t>15.01.2021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4C01924-F747-4CB3-B193-8A5FDA40AEC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375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slide" Target="slide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4.emf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7.emf"/><Relationship Id="rId3" Type="http://schemas.openxmlformats.org/officeDocument/2006/relationships/image" Target="../media/image9.emf"/><Relationship Id="rId21" Type="http://schemas.openxmlformats.org/officeDocument/2006/relationships/image" Target="../media/image18.emf"/><Relationship Id="rId34" Type="http://schemas.openxmlformats.org/officeDocument/2006/relationships/customXml" Target="../ink/ink17.xml"/><Relationship Id="rId7" Type="http://schemas.openxmlformats.org/officeDocument/2006/relationships/image" Target="../media/image11.emf"/><Relationship Id="rId12" Type="http://schemas.openxmlformats.org/officeDocument/2006/relationships/customXml" Target="../ink/ink6.xml"/><Relationship Id="rId17" Type="http://schemas.openxmlformats.org/officeDocument/2006/relationships/image" Target="../media/image16.emf"/><Relationship Id="rId25" Type="http://schemas.openxmlformats.org/officeDocument/2006/relationships/image" Target="../media/image20.emf"/><Relationship Id="rId33" Type="http://schemas.openxmlformats.org/officeDocument/2006/relationships/image" Target="../media/image24.emf"/><Relationship Id="rId38" Type="http://schemas.openxmlformats.org/officeDocument/2006/relationships/customXml" Target="../ink/ink1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22.emf"/><Relationship Id="rId41" Type="http://schemas.openxmlformats.org/officeDocument/2006/relationships/image" Target="../media/image28.emf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3.xml"/><Relationship Id="rId11" Type="http://schemas.openxmlformats.org/officeDocument/2006/relationships/image" Target="../media/image13.emf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6.emf"/><Relationship Id="rId40" Type="http://schemas.openxmlformats.org/officeDocument/2006/relationships/customXml" Target="../ink/ink20.xml"/><Relationship Id="rId5" Type="http://schemas.openxmlformats.org/officeDocument/2006/relationships/image" Target="../media/image10.emf"/><Relationship Id="rId15" Type="http://schemas.openxmlformats.org/officeDocument/2006/relationships/image" Target="../media/image15.emf"/><Relationship Id="rId23" Type="http://schemas.openxmlformats.org/officeDocument/2006/relationships/image" Target="../media/image19.emf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17.emf"/><Relationship Id="rId31" Type="http://schemas.openxmlformats.org/officeDocument/2006/relationships/image" Target="../media/image23.emf"/><Relationship Id="rId4" Type="http://schemas.openxmlformats.org/officeDocument/2006/relationships/customXml" Target="../ink/ink2.xml"/><Relationship Id="rId9" Type="http://schemas.openxmlformats.org/officeDocument/2006/relationships/image" Target="../media/image12.emf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1.emf"/><Relationship Id="rId30" Type="http://schemas.openxmlformats.org/officeDocument/2006/relationships/customXml" Target="../ink/ink15.xml"/><Relationship Id="rId35" Type="http://schemas.openxmlformats.org/officeDocument/2006/relationships/image" Target="../media/image2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999A41-8CDF-46C3-98F8-30B6BDB3D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5312"/>
            <a:ext cx="9144000" cy="977778"/>
          </a:xfrm>
          <a:ln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ru-RU" dirty="0"/>
              <a:t>Сенсорные экраны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D102AD9-7847-4E39-8D15-D805075F2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8228"/>
            <a:ext cx="9144000" cy="449458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ru-RU" dirty="0"/>
              <a:t>емкостные, резистивные</a:t>
            </a:r>
            <a:r>
              <a:rPr lang="en-US" dirty="0"/>
              <a:t>,</a:t>
            </a:r>
            <a:r>
              <a:rPr lang="ru-RU" dirty="0"/>
              <a:t> волновые</a:t>
            </a:r>
          </a:p>
        </p:txBody>
      </p:sp>
    </p:spTree>
    <p:extLst>
      <p:ext uri="{BB962C8B-B14F-4D97-AF65-F5344CB8AC3E}">
        <p14:creationId xmlns:p14="http://schemas.microsoft.com/office/powerpoint/2010/main" val="1224573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push dir="u"/>
      </p:transition>
    </mc:Choice>
    <mc:Fallback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7FA53-2616-45B5-A233-D24210B8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Оглавление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Интерактивное оглавление 4">
                <a:extLst>
                  <a:ext uri="{FF2B5EF4-FFF2-40B4-BE49-F238E27FC236}">
                    <a16:creationId xmlns:a16="http://schemas.microsoft.com/office/drawing/2014/main" id="{255215EA-4B18-4DA6-8737-E4A65A6EDF8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5691852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powerpoint/2016/summaryzoom">
                <psuz:summaryZm>
                  <psuz:summaryZmObj sectionId="{320708A4-B6C6-4116-AC1A-E9B4D694109A}">
                    <psuz:zmPr id="{138EA0E6-EDAB-467D-ACF9-2F88E5B785A0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711460" y="152297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2942A71-F2D0-48DF-91CD-E18429B8F076}">
                    <psuz:zmPr id="{40D00800-B973-4EAC-A2BD-643375B6DEE7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23070" y="152297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CE4392FA-FC47-4040-A604-2D566167491E}" offsetFactorX="51875" offsetFactorY="-718">
                    <psuz:zmPr id="{5C8A0699-1117-49DE-92B2-F9827D047D85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517265" y="2226872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Интерактивное оглавление 4">
                <a:extLst>
                  <a:ext uri="{FF2B5EF4-FFF2-40B4-BE49-F238E27FC236}">
                    <a16:creationId xmlns:a16="http://schemas.microsoft.com/office/drawing/2014/main" id="{255215EA-4B18-4DA6-8737-E4A65A6EDF8F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838200" y="1825625"/>
                <a:ext cx="10515600" cy="4351338"/>
                <a:chOff x="838200" y="1825625"/>
                <a:chExt cx="10515600" cy="4351338"/>
              </a:xfrm>
            </p:grpSpPr>
            <p:pic>
              <p:nvPicPr>
                <p:cNvPr id="6" name="Рисунок 6">
                  <a:hlinkClick r:id="rId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549660" y="1977922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Рисунок 7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61270" y="1977922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Рисунок 8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55465" y="4052497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279710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push dir="u"/>
      </p:transition>
    </mc:Choice>
    <mc:Fallback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698D8-FA5E-407D-899E-869C3BA81277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r>
              <a:rPr lang="ru-RU" dirty="0"/>
              <a:t>Ёмкостный тачскрин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4120D1-6434-46F7-B093-BE6714285E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33005" y="1825625"/>
            <a:ext cx="432599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424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push dir="u"/>
      </p:transition>
    </mc:Choice>
    <mc:Fallback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5FC2A-B44C-4219-9D16-7170DAEC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Ёмкостный тачскрин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1FC3F-E1EE-4047-A8BC-ADAB47E41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B1B1B"/>
                </a:solidFill>
                <a:effectLst/>
                <a:latin typeface="Tahoma" panose="020B0604030504040204" pitchFamily="34" charset="0"/>
              </a:rPr>
              <a:t>В тачскринах конструкции такого рода стеклянную основу покрывают слоем, который выполняет роль вместилища-накопителя заряда. Пользователь своим касанием высвобождает в определённой точке часть электрического заряда. Данное уменьшение определяется микросхемами, которые расположены в каждом углу экрана. Компьютером вычисляется разница электрических потенциалов, существующих между разными частями экрана, при этом, информация о касании в подробностях передаётся немедленно в программу-драйвер тачскрина.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3960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push dir="u"/>
      </p:transition>
    </mc:Choice>
    <mc:Fallback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5C47E3-1A8A-460B-8738-8C311BAFD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24" y="663842"/>
            <a:ext cx="9603275" cy="1049235"/>
          </a:xfrm>
        </p:spPr>
        <p:txBody>
          <a:bodyPr/>
          <a:lstStyle/>
          <a:p>
            <a:r>
              <a:rPr lang="ru-RU" dirty="0"/>
              <a:t>Волновой тачскрин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C0AE54E-8542-450E-8D10-D9826BFF59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50903" y="2016125"/>
            <a:ext cx="3604519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21472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FC9736C-F8BE-44A6-980A-44B2585C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Волновой тачскрин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D52E0-71E2-44D0-A78F-D1DB25B57D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0" dirty="0">
                <a:solidFill>
                  <a:srgbClr val="1B1B1B"/>
                </a:solidFill>
                <a:effectLst/>
                <a:latin typeface="Tahoma" panose="020B0604030504040204" pitchFamily="34" charset="0"/>
              </a:rPr>
              <a:t>На концах осей координатной сетки экрана из стекла располагается два преобразователя. Один из них является передающим, второй - принимающим. На стеклянной основе имеются и рефлекторы, «отражающие» электрический сигнал, который передаётся от одного к другому преобразователю.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1D425BF-9AFB-421E-AEA6-78BDD0829C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0" dirty="0">
                <a:solidFill>
                  <a:srgbClr val="1B1B1B"/>
                </a:solidFill>
                <a:effectLst/>
                <a:latin typeface="Tahoma" panose="020B0604030504040204" pitchFamily="34" charset="0"/>
              </a:rPr>
              <a:t>Преобразователь-приёмник стопроцентно точно «знает» было ли нажатие, а также в какой конкретно точке оно произошло, так как пользователь своим касанием прерывает акустическую волну. При этом, стекло волнового дисплея не имеет металлического покрытия - это предоставляет возможность сохранить в полном объёме 100 % изначального света.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3341601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53A05-D201-4692-B6E3-19BC5B49F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Резистивный тачскрин</a:t>
            </a:r>
          </a:p>
        </p:txBody>
      </p:sp>
      <p:pic>
        <p:nvPicPr>
          <p:cNvPr id="3074" name="Picture 2" descr="Резистивный тачскрин">
            <a:extLst>
              <a:ext uri="{FF2B5EF4-FFF2-40B4-BE49-F238E27FC236}">
                <a16:creationId xmlns:a16="http://schemas.microsoft.com/office/drawing/2014/main" id="{02A15348-D639-488D-90D7-71B85CF053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11196" y="2016125"/>
            <a:ext cx="3083932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53510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0B6CF-D6EC-45FE-8F86-F24BAE08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Резистивный тачскрин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973621-3CAB-4398-BCDA-4D7644E1A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B1B1B"/>
                </a:solidFill>
                <a:effectLst/>
                <a:latin typeface="Tahoma" panose="020B0604030504040204" pitchFamily="34" charset="0"/>
              </a:rPr>
              <a:t>Резистивная система - это обычное стекло, которое покрыто слоем проводника электричества, а также упругой металлической «плёнкой», также обладающей токопроводящими качествами. Между этими 2-мя слоями с помощью специальных распорок есть пустое пространство. Поверхность экрана покрыта специальным материалом, который обеспечивает ему защиту от механических повреждений, например, царапин.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150959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80045-E7C8-48DF-BF69-C191C1D03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Ёмкостный тачскрин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3175FE-59A4-4587-AA37-0083E80EB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0" i="0" dirty="0">
                <a:solidFill>
                  <a:srgbClr val="1B1B1B"/>
                </a:solidFill>
                <a:effectLst/>
                <a:latin typeface="Tahoma" panose="020B0604030504040204" pitchFamily="34" charset="0"/>
              </a:rPr>
              <a:t>Электрический заряд в процессе работы пользователя с тачскрином, проходит через два эти слоя. Каким же образом это происходит? Пользователь в определённой точке касается экрана и упругий верхний слой соприкасается с проводниковым слоем - только в этой точке. Потом компьютером определяются координаты той точки, которой пользователь коснулся.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1B1B1B"/>
                </a:solidFill>
                <a:effectLst/>
                <a:latin typeface="Tahoma" panose="020B0604030504040204" pitchFamily="34" charset="0"/>
              </a:rPr>
              <a:t>Когда координаты становятся известны устройству, то специальный драйвер переводит прикосновения в команды, известные операционной системе. В данном случае можно провести аналоги с драйвером самой обычной компьютерной мышки, ведь он занимается точно тем же: объясняет операционной системе то, что конкретно хотел сказать ей пользователь посредством перемещения манипулятора или же нажатия кнопки. С экранами данного типа используют, как правило, специальные стилусы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947210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3A09894-BECE-4E48-9867-4D96A8BF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Конец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3373FA3-6CA5-4680-A9F1-C822BD346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43868"/>
            <a:ext cx="9603275" cy="3450613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Выполнил студент</a:t>
            </a:r>
          </a:p>
          <a:p>
            <a:pPr marL="0" indent="0" algn="ctr">
              <a:buNone/>
            </a:pPr>
            <a:r>
              <a:rPr lang="ru-RU" dirty="0"/>
              <a:t>Игорь Шарангия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" name="Рукописный ввод 23">
                <a:extLst>
                  <a:ext uri="{FF2B5EF4-FFF2-40B4-BE49-F238E27FC236}">
                    <a16:creationId xmlns:a16="http://schemas.microsoft.com/office/drawing/2014/main" id="{81F0BDBF-C01E-4A07-A9E6-C4347609F30F}"/>
                  </a:ext>
                </a:extLst>
              </p14:cNvPr>
              <p14:cNvContentPartPr/>
              <p14:nvPr/>
            </p14:nvContentPartPr>
            <p14:xfrm>
              <a:off x="1518120" y="5232960"/>
              <a:ext cx="360" cy="482400"/>
            </p14:xfrm>
          </p:contentPart>
        </mc:Choice>
        <mc:Fallback>
          <p:pic>
            <p:nvPicPr>
              <p:cNvPr id="24" name="Рукописный ввод 23">
                <a:extLst>
                  <a:ext uri="{FF2B5EF4-FFF2-40B4-BE49-F238E27FC236}">
                    <a16:creationId xmlns:a16="http://schemas.microsoft.com/office/drawing/2014/main" id="{81F0BDBF-C01E-4A07-A9E6-C4347609F3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2280" y="5169600"/>
                <a:ext cx="31680" cy="6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E6C2D366-B8EC-4C14-BC3E-5232A7F9E67E}"/>
                  </a:ext>
                </a:extLst>
              </p14:cNvPr>
              <p14:cNvContentPartPr/>
              <p14:nvPr/>
            </p14:nvContentPartPr>
            <p14:xfrm>
              <a:off x="1553760" y="5205960"/>
              <a:ext cx="598680" cy="196920"/>
            </p14:xfrm>
          </p:contentPart>
        </mc:Choice>
        <mc:Fallback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E6C2D366-B8EC-4C14-BC3E-5232A7F9E6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7920" y="5142600"/>
                <a:ext cx="6300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" name="Рукописный ввод 25">
                <a:extLst>
                  <a:ext uri="{FF2B5EF4-FFF2-40B4-BE49-F238E27FC236}">
                    <a16:creationId xmlns:a16="http://schemas.microsoft.com/office/drawing/2014/main" id="{240C4A66-C289-4262-837B-B47B2620CBB3}"/>
                  </a:ext>
                </a:extLst>
              </p14:cNvPr>
              <p14:cNvContentPartPr/>
              <p14:nvPr/>
            </p14:nvContentPartPr>
            <p14:xfrm>
              <a:off x="2098440" y="5277600"/>
              <a:ext cx="63000" cy="509040"/>
            </p14:xfrm>
          </p:contentPart>
        </mc:Choice>
        <mc:Fallback>
          <p:pic>
            <p:nvPicPr>
              <p:cNvPr id="26" name="Рукописный ввод 25">
                <a:extLst>
                  <a:ext uri="{FF2B5EF4-FFF2-40B4-BE49-F238E27FC236}">
                    <a16:creationId xmlns:a16="http://schemas.microsoft.com/office/drawing/2014/main" id="{240C4A66-C289-4262-837B-B47B2620CB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82600" y="5214240"/>
                <a:ext cx="94320" cy="6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7" name="Рукописный ввод 26">
                <a:extLst>
                  <a:ext uri="{FF2B5EF4-FFF2-40B4-BE49-F238E27FC236}">
                    <a16:creationId xmlns:a16="http://schemas.microsoft.com/office/drawing/2014/main" id="{84AF1603-ED7F-4E9B-BC7F-3B90A3559D37}"/>
                  </a:ext>
                </a:extLst>
              </p14:cNvPr>
              <p14:cNvContentPartPr/>
              <p14:nvPr/>
            </p14:nvContentPartPr>
            <p14:xfrm>
              <a:off x="2661120" y="5268600"/>
              <a:ext cx="393120" cy="562680"/>
            </p14:xfrm>
          </p:contentPart>
        </mc:Choice>
        <mc:Fallback>
          <p:pic>
            <p:nvPicPr>
              <p:cNvPr id="27" name="Рукописный ввод 26">
                <a:extLst>
                  <a:ext uri="{FF2B5EF4-FFF2-40B4-BE49-F238E27FC236}">
                    <a16:creationId xmlns:a16="http://schemas.microsoft.com/office/drawing/2014/main" id="{84AF1603-ED7F-4E9B-BC7F-3B90A3559D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45280" y="5205240"/>
                <a:ext cx="42444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50BD8281-935E-47B1-973D-6EB96AD1AF85}"/>
                  </a:ext>
                </a:extLst>
              </p14:cNvPr>
              <p14:cNvContentPartPr/>
              <p14:nvPr/>
            </p14:nvContentPartPr>
            <p14:xfrm>
              <a:off x="3339720" y="5259600"/>
              <a:ext cx="360" cy="580680"/>
            </p14:xfrm>
          </p:contentPart>
        </mc:Choice>
        <mc:Fallback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50BD8281-935E-47B1-973D-6EB96AD1AF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23880" y="5196240"/>
                <a:ext cx="31680" cy="70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37414547-95BF-4E44-AF3D-4E10115F3E3F}"/>
                  </a:ext>
                </a:extLst>
              </p14:cNvPr>
              <p14:cNvContentPartPr/>
              <p14:nvPr/>
            </p14:nvContentPartPr>
            <p14:xfrm>
              <a:off x="3375360" y="5268600"/>
              <a:ext cx="464760" cy="536040"/>
            </p14:xfrm>
          </p:contentPart>
        </mc:Choice>
        <mc:Fallback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37414547-95BF-4E44-AF3D-4E10115F3E3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59520" y="5205240"/>
                <a:ext cx="496080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35C7E560-5A02-4AEC-91EC-BC95615BFBE4}"/>
                  </a:ext>
                </a:extLst>
              </p14:cNvPr>
              <p14:cNvContentPartPr/>
              <p14:nvPr/>
            </p14:nvContentPartPr>
            <p14:xfrm>
              <a:off x="4313160" y="5179320"/>
              <a:ext cx="360" cy="616320"/>
            </p14:xfrm>
          </p:contentPart>
        </mc:Choice>
        <mc:Fallback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35C7E560-5A02-4AEC-91EC-BC95615BFB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97320" y="5115960"/>
                <a:ext cx="31680" cy="74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1" name="Рукописный ввод 30">
                <a:extLst>
                  <a:ext uri="{FF2B5EF4-FFF2-40B4-BE49-F238E27FC236}">
                    <a16:creationId xmlns:a16="http://schemas.microsoft.com/office/drawing/2014/main" id="{8B1A82CD-54D8-4168-8B5B-F2A114C08885}"/>
                  </a:ext>
                </a:extLst>
              </p14:cNvPr>
              <p14:cNvContentPartPr/>
              <p14:nvPr/>
            </p14:nvContentPartPr>
            <p14:xfrm>
              <a:off x="4268520" y="5241600"/>
              <a:ext cx="196560" cy="27360"/>
            </p14:xfrm>
          </p:contentPart>
        </mc:Choice>
        <mc:Fallback>
          <p:pic>
            <p:nvPicPr>
              <p:cNvPr id="31" name="Рукописный ввод 30">
                <a:extLst>
                  <a:ext uri="{FF2B5EF4-FFF2-40B4-BE49-F238E27FC236}">
                    <a16:creationId xmlns:a16="http://schemas.microsoft.com/office/drawing/2014/main" id="{8B1A82CD-54D8-4168-8B5B-F2A114C0888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52680" y="5178240"/>
                <a:ext cx="2278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2" name="Рукописный ввод 31">
                <a:extLst>
                  <a:ext uri="{FF2B5EF4-FFF2-40B4-BE49-F238E27FC236}">
                    <a16:creationId xmlns:a16="http://schemas.microsoft.com/office/drawing/2014/main" id="{96DF267D-583C-4755-846B-5D29BF33CB79}"/>
                  </a:ext>
                </a:extLst>
              </p14:cNvPr>
              <p14:cNvContentPartPr/>
              <p14:nvPr/>
            </p14:nvContentPartPr>
            <p14:xfrm>
              <a:off x="4313160" y="5527440"/>
              <a:ext cx="294840" cy="54000"/>
            </p14:xfrm>
          </p:contentPart>
        </mc:Choice>
        <mc:Fallback>
          <p:pic>
            <p:nvPicPr>
              <p:cNvPr id="32" name="Рукописный ввод 31">
                <a:extLst>
                  <a:ext uri="{FF2B5EF4-FFF2-40B4-BE49-F238E27FC236}">
                    <a16:creationId xmlns:a16="http://schemas.microsoft.com/office/drawing/2014/main" id="{96DF267D-583C-4755-846B-5D29BF33CB7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97320" y="5464080"/>
                <a:ext cx="32616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3" name="Рукописный ввод 32">
                <a:extLst>
                  <a:ext uri="{FF2B5EF4-FFF2-40B4-BE49-F238E27FC236}">
                    <a16:creationId xmlns:a16="http://schemas.microsoft.com/office/drawing/2014/main" id="{00CD2802-AE06-4801-8354-495EBDED67E4}"/>
                  </a:ext>
                </a:extLst>
              </p14:cNvPr>
              <p14:cNvContentPartPr/>
              <p14:nvPr/>
            </p14:nvContentPartPr>
            <p14:xfrm>
              <a:off x="4295160" y="5929200"/>
              <a:ext cx="339840" cy="18360"/>
            </p14:xfrm>
          </p:contentPart>
        </mc:Choice>
        <mc:Fallback>
          <p:pic>
            <p:nvPicPr>
              <p:cNvPr id="33" name="Рукописный ввод 32">
                <a:extLst>
                  <a:ext uri="{FF2B5EF4-FFF2-40B4-BE49-F238E27FC236}">
                    <a16:creationId xmlns:a16="http://schemas.microsoft.com/office/drawing/2014/main" id="{00CD2802-AE06-4801-8354-495EBDED67E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279320" y="5865840"/>
                <a:ext cx="3711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4" name="Рукописный ввод 33">
                <a:extLst>
                  <a:ext uri="{FF2B5EF4-FFF2-40B4-BE49-F238E27FC236}">
                    <a16:creationId xmlns:a16="http://schemas.microsoft.com/office/drawing/2014/main" id="{F4809A41-995D-4025-99CB-504BD934A88F}"/>
                  </a:ext>
                </a:extLst>
              </p14:cNvPr>
              <p14:cNvContentPartPr/>
              <p14:nvPr/>
            </p14:nvContentPartPr>
            <p14:xfrm>
              <a:off x="4411440" y="5232960"/>
              <a:ext cx="214560" cy="27000"/>
            </p14:xfrm>
          </p:contentPart>
        </mc:Choice>
        <mc:Fallback>
          <p:pic>
            <p:nvPicPr>
              <p:cNvPr id="34" name="Рукописный ввод 33">
                <a:extLst>
                  <a:ext uri="{FF2B5EF4-FFF2-40B4-BE49-F238E27FC236}">
                    <a16:creationId xmlns:a16="http://schemas.microsoft.com/office/drawing/2014/main" id="{F4809A41-995D-4025-99CB-504BD934A88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95600" y="5169600"/>
                <a:ext cx="2458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5" name="Рукописный ввод 34">
                <a:extLst>
                  <a:ext uri="{FF2B5EF4-FFF2-40B4-BE49-F238E27FC236}">
                    <a16:creationId xmlns:a16="http://schemas.microsoft.com/office/drawing/2014/main" id="{5DA17AF3-9BD5-4DB4-91EC-EB7CC2A2E80B}"/>
                  </a:ext>
                </a:extLst>
              </p14:cNvPr>
              <p14:cNvContentPartPr/>
              <p14:nvPr/>
            </p14:nvContentPartPr>
            <p14:xfrm>
              <a:off x="5009400" y="5188320"/>
              <a:ext cx="9360" cy="678960"/>
            </p14:xfrm>
          </p:contentPart>
        </mc:Choice>
        <mc:Fallback>
          <p:pic>
            <p:nvPicPr>
              <p:cNvPr id="35" name="Рукописный ввод 34">
                <a:extLst>
                  <a:ext uri="{FF2B5EF4-FFF2-40B4-BE49-F238E27FC236}">
                    <a16:creationId xmlns:a16="http://schemas.microsoft.com/office/drawing/2014/main" id="{5DA17AF3-9BD5-4DB4-91EC-EB7CC2A2E80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93560" y="5124960"/>
                <a:ext cx="40680" cy="80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6" name="Рукописный ввод 35">
                <a:extLst>
                  <a:ext uri="{FF2B5EF4-FFF2-40B4-BE49-F238E27FC236}">
                    <a16:creationId xmlns:a16="http://schemas.microsoft.com/office/drawing/2014/main" id="{79A542FC-428C-48C1-A6E0-14611B777B0A}"/>
                  </a:ext>
                </a:extLst>
              </p14:cNvPr>
              <p14:cNvContentPartPr/>
              <p14:nvPr/>
            </p14:nvContentPartPr>
            <p14:xfrm>
              <a:off x="4857840" y="5161320"/>
              <a:ext cx="437760" cy="54000"/>
            </p14:xfrm>
          </p:contentPart>
        </mc:Choice>
        <mc:Fallback>
          <p:pic>
            <p:nvPicPr>
              <p:cNvPr id="36" name="Рукописный ввод 35">
                <a:extLst>
                  <a:ext uri="{FF2B5EF4-FFF2-40B4-BE49-F238E27FC236}">
                    <a16:creationId xmlns:a16="http://schemas.microsoft.com/office/drawing/2014/main" id="{79A542FC-428C-48C1-A6E0-14611B777B0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42000" y="5097960"/>
                <a:ext cx="4690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7" name="Рукописный ввод 36">
                <a:extLst>
                  <a:ext uri="{FF2B5EF4-FFF2-40B4-BE49-F238E27FC236}">
                    <a16:creationId xmlns:a16="http://schemas.microsoft.com/office/drawing/2014/main" id="{DA5474B3-A910-4AFE-826E-DE82715528FF}"/>
                  </a:ext>
                </a:extLst>
              </p14:cNvPr>
              <p14:cNvContentPartPr/>
              <p14:nvPr/>
            </p14:nvContentPartPr>
            <p14:xfrm>
              <a:off x="5563080" y="5214960"/>
              <a:ext cx="9360" cy="589680"/>
            </p14:xfrm>
          </p:contentPart>
        </mc:Choice>
        <mc:Fallback>
          <p:pic>
            <p:nvPicPr>
              <p:cNvPr id="37" name="Рукописный ввод 36">
                <a:extLst>
                  <a:ext uri="{FF2B5EF4-FFF2-40B4-BE49-F238E27FC236}">
                    <a16:creationId xmlns:a16="http://schemas.microsoft.com/office/drawing/2014/main" id="{DA5474B3-A910-4AFE-826E-DE82715528F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47240" y="5151600"/>
                <a:ext cx="40680" cy="71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8" name="Рукописный ввод 37">
                <a:extLst>
                  <a:ext uri="{FF2B5EF4-FFF2-40B4-BE49-F238E27FC236}">
                    <a16:creationId xmlns:a16="http://schemas.microsoft.com/office/drawing/2014/main" id="{D26D8AD9-8BE2-487F-B6EA-D79821EEBF42}"/>
                  </a:ext>
                </a:extLst>
              </p14:cNvPr>
              <p14:cNvContentPartPr/>
              <p14:nvPr/>
            </p14:nvContentPartPr>
            <p14:xfrm>
              <a:off x="5607720" y="5232960"/>
              <a:ext cx="393480" cy="312840"/>
            </p14:xfrm>
          </p:contentPart>
        </mc:Choice>
        <mc:Fallback>
          <p:pic>
            <p:nvPicPr>
              <p:cNvPr id="38" name="Рукописный ввод 37">
                <a:extLst>
                  <a:ext uri="{FF2B5EF4-FFF2-40B4-BE49-F238E27FC236}">
                    <a16:creationId xmlns:a16="http://schemas.microsoft.com/office/drawing/2014/main" id="{D26D8AD9-8BE2-487F-B6EA-D79821EEBF4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91880" y="5169600"/>
                <a:ext cx="42480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9" name="Рукописный ввод 38">
                <a:extLst>
                  <a:ext uri="{FF2B5EF4-FFF2-40B4-BE49-F238E27FC236}">
                    <a16:creationId xmlns:a16="http://schemas.microsoft.com/office/drawing/2014/main" id="{7605D696-74FF-4EFB-9C89-6617851CA4F6}"/>
                  </a:ext>
                </a:extLst>
              </p14:cNvPr>
              <p14:cNvContentPartPr/>
              <p14:nvPr/>
            </p14:nvContentPartPr>
            <p14:xfrm>
              <a:off x="5750640" y="5482800"/>
              <a:ext cx="178920" cy="339840"/>
            </p14:xfrm>
          </p:contentPart>
        </mc:Choice>
        <mc:Fallback>
          <p:pic>
            <p:nvPicPr>
              <p:cNvPr id="39" name="Рукописный ввод 38">
                <a:extLst>
                  <a:ext uri="{FF2B5EF4-FFF2-40B4-BE49-F238E27FC236}">
                    <a16:creationId xmlns:a16="http://schemas.microsoft.com/office/drawing/2014/main" id="{7605D696-74FF-4EFB-9C89-6617851CA4F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734800" y="5419440"/>
                <a:ext cx="21024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0" name="Рукописный ввод 39">
                <a:extLst>
                  <a:ext uri="{FF2B5EF4-FFF2-40B4-BE49-F238E27FC236}">
                    <a16:creationId xmlns:a16="http://schemas.microsoft.com/office/drawing/2014/main" id="{28D23D06-FA1E-4A84-854B-F20A2072DD29}"/>
                  </a:ext>
                </a:extLst>
              </p14:cNvPr>
              <p14:cNvContentPartPr/>
              <p14:nvPr/>
            </p14:nvContentPartPr>
            <p14:xfrm>
              <a:off x="6241680" y="5179320"/>
              <a:ext cx="179280" cy="643320"/>
            </p14:xfrm>
          </p:contentPart>
        </mc:Choice>
        <mc:Fallback>
          <p:pic>
            <p:nvPicPr>
              <p:cNvPr id="40" name="Рукописный ввод 39">
                <a:extLst>
                  <a:ext uri="{FF2B5EF4-FFF2-40B4-BE49-F238E27FC236}">
                    <a16:creationId xmlns:a16="http://schemas.microsoft.com/office/drawing/2014/main" id="{28D23D06-FA1E-4A84-854B-F20A2072DD2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25840" y="5115960"/>
                <a:ext cx="210600" cy="77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1" name="Рукописный ввод 40">
                <a:extLst>
                  <a:ext uri="{FF2B5EF4-FFF2-40B4-BE49-F238E27FC236}">
                    <a16:creationId xmlns:a16="http://schemas.microsoft.com/office/drawing/2014/main" id="{FCB8E737-756E-4E2E-9A36-89001BB8F791}"/>
                  </a:ext>
                </a:extLst>
              </p14:cNvPr>
              <p14:cNvContentPartPr/>
              <p14:nvPr/>
            </p14:nvContentPartPr>
            <p14:xfrm>
              <a:off x="6456240" y="5188320"/>
              <a:ext cx="196560" cy="714600"/>
            </p14:xfrm>
          </p:contentPart>
        </mc:Choice>
        <mc:Fallback>
          <p:pic>
            <p:nvPicPr>
              <p:cNvPr id="41" name="Рукописный ввод 40">
                <a:extLst>
                  <a:ext uri="{FF2B5EF4-FFF2-40B4-BE49-F238E27FC236}">
                    <a16:creationId xmlns:a16="http://schemas.microsoft.com/office/drawing/2014/main" id="{FCB8E737-756E-4E2E-9A36-89001BB8F79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440400" y="5124960"/>
                <a:ext cx="227880" cy="84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2" name="Рукописный ввод 41">
                <a:extLst>
                  <a:ext uri="{FF2B5EF4-FFF2-40B4-BE49-F238E27FC236}">
                    <a16:creationId xmlns:a16="http://schemas.microsoft.com/office/drawing/2014/main" id="{92955C95-5F89-4E27-B8A4-6B32D8DF4FC4}"/>
                  </a:ext>
                </a:extLst>
              </p14:cNvPr>
              <p14:cNvContentPartPr/>
              <p14:nvPr/>
            </p14:nvContentPartPr>
            <p14:xfrm>
              <a:off x="6331320" y="5607720"/>
              <a:ext cx="232200" cy="360"/>
            </p14:xfrm>
          </p:contentPart>
        </mc:Choice>
        <mc:Fallback>
          <p:pic>
            <p:nvPicPr>
              <p:cNvPr id="42" name="Рукописный ввод 41">
                <a:extLst>
                  <a:ext uri="{FF2B5EF4-FFF2-40B4-BE49-F238E27FC236}">
                    <a16:creationId xmlns:a16="http://schemas.microsoft.com/office/drawing/2014/main" id="{92955C95-5F89-4E27-B8A4-6B32D8DF4FC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15480" y="5544360"/>
                <a:ext cx="2635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3" name="Рукописный ввод 42">
                <a:extLst>
                  <a:ext uri="{FF2B5EF4-FFF2-40B4-BE49-F238E27FC236}">
                    <a16:creationId xmlns:a16="http://schemas.microsoft.com/office/drawing/2014/main" id="{27505940-8274-44F9-A7B1-9EC789993F8A}"/>
                  </a:ext>
                </a:extLst>
              </p14:cNvPr>
              <p14:cNvContentPartPr/>
              <p14:nvPr/>
            </p14:nvContentPartPr>
            <p14:xfrm>
              <a:off x="7724160" y="4456080"/>
              <a:ext cx="360" cy="360"/>
            </p14:xfrm>
          </p:contentPart>
        </mc:Choice>
        <mc:Fallback>
          <p:pic>
            <p:nvPicPr>
              <p:cNvPr id="43" name="Рукописный ввод 42">
                <a:extLst>
                  <a:ext uri="{FF2B5EF4-FFF2-40B4-BE49-F238E27FC236}">
                    <a16:creationId xmlns:a16="http://schemas.microsoft.com/office/drawing/2014/main" id="{27505940-8274-44F9-A7B1-9EC789993F8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08320" y="439272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087576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364</Words>
  <Application>Microsoft Office PowerPoint</Application>
  <PresentationFormat>Широкоэкранный</PresentationFormat>
  <Paragraphs>18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Gill Sans MT</vt:lpstr>
      <vt:lpstr>Tahoma</vt:lpstr>
      <vt:lpstr>Office Theme</vt:lpstr>
      <vt:lpstr>Галерея</vt:lpstr>
      <vt:lpstr>Сенсорные экраны </vt:lpstr>
      <vt:lpstr>Оглавление</vt:lpstr>
      <vt:lpstr>Ёмкостный тачскрин</vt:lpstr>
      <vt:lpstr>Ёмкостный тачскрин</vt:lpstr>
      <vt:lpstr>Волновой тачскрин</vt:lpstr>
      <vt:lpstr>Волновой тачскрин</vt:lpstr>
      <vt:lpstr>Резистивный тачскрин</vt:lpstr>
      <vt:lpstr>Резистивный тачскрин</vt:lpstr>
      <vt:lpstr>Ёмкостный тачскрин</vt:lpstr>
      <vt:lpstr>Конец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Сенсорные экраны </dc:title>
  <dc:creator>Игорь Шарангия</dc:creator>
  <cp:lastModifiedBy>Игорь Шарангия</cp:lastModifiedBy>
  <cp:revision>8</cp:revision>
  <dcterms:created xsi:type="dcterms:W3CDTF">2021-01-15T15:48:19Z</dcterms:created>
  <dcterms:modified xsi:type="dcterms:W3CDTF">2021-01-15T16:17:38Z</dcterms:modified>
</cp:coreProperties>
</file>